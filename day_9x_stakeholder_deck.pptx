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Onboarding Your First AI Teammate</a:t>
            </a:r>
          </a:p>
          <a:p>
            <a:r>
              <a:rPr sz="2000" b="0" i="0">
                <a:solidFill>
                  <a:srgbClr val="C7D2FE"/>
                </a:solidFill>
                <a:latin typeface="Segoe UI"/>
              </a:rPr>
              <a:t>day_9x — an AI agent's first 90 days on a credit-risk data-ops team</a:t>
            </a:r>
          </a:p>
          <a:p>
            <a:r>
              <a:rPr sz="1300" b="1" i="0">
                <a:solidFill>
                  <a:srgbClr val="10B981"/>
                </a:solidFill>
                <a:latin typeface="Segoe UI"/>
              </a:rPr>
              <a:t>v2.0 · the knowledge miner</a:t>
            </a:r>
          </a:p>
          <a:p>
            <a:pPr>
              <a:spcBef>
                <a:spcPts val="1800"/>
              </a:spcBef>
            </a:pPr>
            <a:r>
              <a:rPr sz="1400" b="0" i="0">
                <a:solidFill>
                  <a:srgbClr val="475569"/>
                </a:solidFill>
                <a:latin typeface="Segoe UI"/>
              </a:rPr>
              <a:t>Modelled on Watkins' The First 90 Days · a 6-sprint, eval-gated onboarding · runs $0 / keyless</a:t>
            </a:r>
          </a:p>
          <a:p>
            <a:pPr>
              <a:spcBef>
                <a:spcPts val="3000"/>
              </a:spcBef>
            </a:pPr>
            <a:r>
              <a:rPr sz="1500" b="0" i="1">
                <a:solidFill>
                  <a:srgbClr val="10B981"/>
                </a:solidFill>
                <a:latin typeface="Segoe UI"/>
              </a:rPr>
              <a:t>Breakeven in sprints, not months — reached day 15 in a turnaround.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0" tIns="256032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The 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•  An AI agent is the fastest-learning new hire you'll ever get — it reads a million pages before Monday.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•  And it shows up with zero context about YOUR business: your process, your naming, your unwritten rules.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6366F1"/>
                </a:solidFill>
                <a:latin typeface="Segoe UI"/>
              </a:rPr>
              <a:t>•  Talent was never the gap. Context is.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0B981"/>
                </a:solidFill>
                <a:latin typeface="Segoe UI"/>
              </a:rPr>
              <a:t>•  So the question isn't 'which model' — it's 'are we a team that knows how to onboard?'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475569"/>
                </a:solidFill>
                <a:latin typeface="Segoe UI"/>
              </a:rPr>
              <a:t>This is the 'trapped enterprise knowledge' thesis, arriving through the side door.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0" tIns="256032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Why onboarding — not the model — decides the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10B981"/>
                </a:solidFill>
                <a:latin typeface="Segoe UI"/>
              </a:rPr>
              <a:t>•  Onboarded like a junior teammate (scoped tasks, a reviewing buddy, trust earned task by task): one vendor's merge rate rose 34% → 67% over 18 months.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EF4444"/>
                </a:solidFill>
                <a:latin typeface="Segoe UI"/>
              </a:rPr>
              <a:t>•  Thrown in the deep end: an independent trial completed 3 of 20 tasks — the failure cause was silent, unpredictable behaviour, not raw error rate.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•  Watkins: a mid-level human hire takes ~6.2 months to break even; senior outside hires fail 40–50% of the time. The AI teammate is the ultimate OUTSIDE hire — highest risk, zero informal network — so it needs the MOST structured onboarding, not the least.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475569"/>
                </a:solidFill>
                <a:latin typeface="Segoe UI"/>
              </a:rPr>
              <a:t>Sources tracked in the POV EVIDENCE file; vendor figures flagged as vendor-reported.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0E7FF"/>
                </a:solidFill>
                <a:latin typeface="Segoe UI"/>
              </a:rPr>
              <a:t>THE PROTOTYPE</a:t>
            </a:r>
          </a:p>
          <a:p>
            <a:r>
              <a:rPr sz="3400" b="1" i="0">
                <a:solidFill>
                  <a:srgbClr val="FFFFFF"/>
                </a:solidFill>
                <a:latin typeface="Segoe UI"/>
              </a:rPr>
              <a:t>day_9x: five tabs = the first 90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0" tIns="256032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The five tabs map to Watkins, mechanism by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6366F1"/>
                </a:solidFill>
                <a:latin typeface="Segoe UI"/>
              </a:rPr>
              <a:t>•  Charter — the Five Conversations + a STARS situation selector; hiring manager sets duration (default 90 days = 6 sprints, 10 checkpoints).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6366F1"/>
                </a:solidFill>
                <a:latin typeface="Segoe UI"/>
              </a:rPr>
              <a:t>•  Shadow mode — RAG over the team's runbooks with citations + an abstain guardrail; the cultural-learning moment.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EA5E9"/>
                </a:solidFill>
                <a:latin typeface="Segoe UI"/>
              </a:rPr>
              <a:t>•  Early wins — scoped 4–8h tasks behind approval gates; helpful-abstain escalation.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EA5E9"/>
                </a:solidFill>
                <a:latin typeface="Segoe UI"/>
              </a:rPr>
              <a:t>•  Probation review — eval gates per task class; trust earned, not assumed.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0B981"/>
                </a:solidFill>
                <a:latin typeface="Segoe UI"/>
              </a:rPr>
              <a:t>•  Breakeven + Retro — value consumed vs created; day-9x stakeholder reports.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475569"/>
                </a:solidFill>
                <a:latin typeface="Segoe UI"/>
              </a:rPr>
              <a:t>Runs $0 / keyless (public-Space safe); optional Claude Haiku enriches shadow answers.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0" tIns="256032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The money shot: unlocking trapped knowledge in one click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•  Ask Arjuna: 'Can I rerun the CreditMart load on Thursday morning?'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–  Before: it can't — the 'Thursday rule' is in nobody's document, only in an SME's head. It answers from the nearest runbook and misses it.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•  An SME coaches the unwritten rule → it becomes a versioned, cited Skill in the corpus.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10B981"/>
                </a:solidFill>
                <a:latin typeface="Segoe UI"/>
              </a:rPr>
              <a:t>–  After: Arjuna answers correctly, citing unwritten_rules.md.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6366F1"/>
                </a:solidFill>
                <a:latin typeface="Segoe UI"/>
              </a:rPr>
              <a:t>•  The probation-review evals prove it objectively: two culture cases are RED until coached, then GREEN. Evals, not vibes.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475569"/>
                </a:solidFill>
                <a:latin typeface="Segoe UI"/>
              </a:rPr>
              <a:t>Trapped knowledge → reusable Skill. This is the thesis, made demoable.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0" tIns="256032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The second money shot: Arjuna mines what the corpus can't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•  When Arjuna can't answer, the miss isn't lost — it's logged as a structured knowledge gap (a mining lead), never a silent hallucination.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6366F1"/>
                </a:solidFill>
                <a:latin typeface="Segoe UI"/>
              </a:rPr>
              <a:t>•  Arjuna turns the gap into SME interview questions; the SME answers; Arjuna writes it up as a versioned, ATTRIBUTED Skill and reindexes — the question it abstained on now answers, with a citation.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•  This is agent-led externalization: the 80% that was never written down gets captured by interviewing the human who has it (research: 94.9% recall in simulation), and the SME is the credited teacher — never an extraction target.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0B981"/>
                </a:solidFill>
                <a:latin typeface="Segoe UI"/>
              </a:rPr>
              <a:t>•  Almost nobody demos this. It is exactly the tacit-knowledge loop the POV names as the prototype opportunity.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475569"/>
                </a:solidFill>
                <a:latin typeface="Segoe UI"/>
              </a:rPr>
              <a:t>Gap register → SME interview → cited, versioned Skill. Trapped knowledge, unlocked with consent and attribution.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0" tIns="256032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Teachers of the sprint — why attribution is the whole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EF4444"/>
                </a:solidFill>
                <a:latin typeface="Segoe UI"/>
              </a:rPr>
              <a:t>•  35% of knowledge workers deliberately hoard expertise to stay indispensable in the AI era; AI awareness measurably increases knowledge-hiding.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•  So a program pitched as 'we'll capture the SMEs' knowledge' poisons its own corpus. The fix is design, not sentiment: SMEs as named, credited teachers.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6366F1"/>
                </a:solidFill>
                <a:latin typeface="Segoe UI"/>
              </a:rPr>
              <a:t>•  day_9x makes it visible — a 'Teachers of the sprint' board counts Skills coached and citations served per SME: 'your knowledge answered N questions this sprint.'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0B981"/>
                </a:solidFill>
                <a:latin typeface="Segoe UI"/>
              </a:rPr>
              <a:t>•  Where AI is embedded well, 48% of workers feel energized vs 19% without. Attribution is corpus-quality engineering.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475569"/>
                </a:solidFill>
                <a:latin typeface="Segoe UI"/>
              </a:rPr>
              <a:t>The 'one team' framing isn't a slogan — it's what keeps the knowledge flowing 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Segoe UI"/>
              </a:rPr>
              <a:t>The breakeven point — in sprints, not months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3301898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/>
          <a:lstStyle/>
          <a:p>
            <a:pPr algn="ctr"/>
            <a:r>
              <a:rPr sz="4000" b="1" i="0">
                <a:solidFill>
                  <a:srgbClr val="10B981"/>
                </a:solidFill>
                <a:latin typeface="Segoe UI"/>
              </a:rPr>
              <a:t>Day 15</a:t>
            </a:r>
          </a:p>
          <a:p>
            <a:pPr algn="ctr"/>
            <a:r>
              <a:rPr sz="1400" b="0" i="0">
                <a:solidFill>
                  <a:srgbClr val="475569"/>
                </a:solidFill>
                <a:latin typeface="Segoe UI"/>
              </a:rPr>
              <a:t>Turnaround breakeven
(short shadow, fast wins)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444898" y="1920240"/>
            <a:ext cx="3301898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/>
          <a:lstStyle/>
          <a:p>
            <a:pPr algn="ctr"/>
            <a:r>
              <a:rPr sz="4000" b="1" i="0">
                <a:solidFill>
                  <a:srgbClr val="0EA5E9"/>
                </a:solidFill>
                <a:latin typeface="Segoe UI"/>
              </a:rPr>
              <a:t>Day 28</a:t>
            </a:r>
          </a:p>
          <a:p>
            <a:pPr algn="ctr"/>
            <a:r>
              <a:rPr sz="1400" b="0" i="0">
                <a:solidFill>
                  <a:srgbClr val="475569"/>
                </a:solidFill>
                <a:latin typeface="Segoe UI"/>
              </a:rPr>
              <a:t>Sustaining-success breakeven</a:t>
            </a:r>
          </a:p>
        </p:txBody>
      </p:sp>
      <p:sp>
        <p:nvSpPr>
          <p:cNvPr id="5" name="Rectangle 4"/>
          <p:cNvSpPr/>
          <p:nvPr/>
        </p:nvSpPr>
        <p:spPr>
          <a:xfrm>
            <a:off x="8066836" y="1920240"/>
            <a:ext cx="3301898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/>
          <a:lstStyle/>
          <a:p>
            <a:pPr algn="ctr"/>
            <a:r>
              <a:rPr sz="4000" b="1" i="0">
                <a:solidFill>
                  <a:srgbClr val="6366F1"/>
                </a:solidFill>
                <a:latin typeface="Segoe UI"/>
              </a:rPr>
              <a:t>Day 38</a:t>
            </a:r>
          </a:p>
          <a:p>
            <a:pPr algn="ctr"/>
            <a:r>
              <a:rPr sz="1400" b="0" i="0">
                <a:solidFill>
                  <a:srgbClr val="475569"/>
                </a:solidFill>
                <a:latin typeface="Segoe UI"/>
              </a:rPr>
              <a:t>Start-up breakeven
(deep learning first)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F172A"/>
                </a:solidFill>
                <a:latin typeface="Segoe UI"/>
              </a:rPr>
              <a:t>The STARS situation visibly changes WHEN the AI teammate pays back its onboarding cost. Net at day 90 (turnaround): +403 analyst-hours. The curve dips through shadow (drafts create no realized value — the human still owns the work), then climbs as scoped work is approved.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0" tIns="256032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Trust is earned per task class — and revocable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6366F1"/>
                </a:solidFill>
                <a:latin typeface="Segoe UI"/>
              </a:rPr>
              <a:t>•  SHADOW — drafts only, 100% reviewed, zero autonomy.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EA5E9"/>
                </a:solidFill>
                <a:latin typeface="Segoe UI"/>
              </a:rPr>
              <a:t>•  GATED — may act, but every output needs the buddy's approval; unlocked when the class passes its eval gate.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0B981"/>
                </a:solidFill>
                <a:latin typeface="Segoe UI"/>
              </a:rPr>
              <a:t>•  AUTONOMOUS — acts within the charter; ~20% audit sample; offered only with a green gate AND enough verified outputs.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•  A human junior earns social trust; an agent earns statistical trust. The probation review can expand, hold, or reduce — the same 90-day decision you'd make for a person.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475569"/>
                </a:solidFill>
                <a:latin typeface="Segoe UI"/>
              </a:rPr>
              <a:t>What stays human, in writing: regulatory sign-off, stakeholder calls, ambiguous judgement, accountability.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0" tIns="256032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One team — what each human gets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•  In this story the AI is the junior; the humans are the mentors, reviewers and deciders. Every hour Arjuna returns is redeployed toward the review-and-judgement work that was always understaffed.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6366F1"/>
                </a:solidFill>
                <a:latin typeface="Segoe UI"/>
              </a:rPr>
              <a:t>•  Over a modelled turnaround run, Arjuna returns ~432 analyst-hours to named teammates — Priya (triage), Arun (recon), Sofia (DQ) — who shift from doing the routine work to reviewing and directing it.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•  The 'stays human' list is written down, not implied: regulatory sign-off, stakeholder calls, ambiguous judgement, accountability.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0B981"/>
                </a:solidFill>
                <a:latin typeface="Segoe UI"/>
              </a:rPr>
              <a:t>•  Resist FTE-equivalence math in year one — measure task-class throughput, quality and cycle time. The workforce story is redeployment, not reduction.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475569"/>
                </a:solidFill>
                <a:latin typeface="Segoe UI"/>
              </a:rPr>
              <a:t>G3 answered in the product, not just the pitch: the 52%-job-fear stat met with a per-person impact view and a written human-value-preservation list.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0" tIns="256032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Delivery evidence — built the way the team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•  Jira board (project D9X): 25 stories across 4 sprints, story-first, AI-actual worklogs — importable via JIRA_IMPORT.csv. v0.1 frozen (git tag), v2.0 shipped.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EA5E9"/>
                </a:solidFill>
                <a:latin typeface="Segoe UI"/>
              </a:rPr>
              <a:t>•  v2.0 realism, not just narrative: a freshness rule excludes superseded runbooks; an ACL refusal keeps salary/HR out of scope; a retrieval-eval scorecard grades whether the RIGHT knowledge surfaces (most RAG teams run no retrieval evals at all).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0B981"/>
                </a:solidFill>
                <a:latin typeface="Segoe UI"/>
              </a:rPr>
              <a:t>•  Tests: 23/23 green. Eval harness: 2 culture gates red uncoached → all green coached (the freshness + ACL cases pass green throughout — they are realism, not the teaching moment).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•  Built with a partner-agent team (Opus subagents for docs + an independent review pass, D9X-26); token usage tracked per sprint. GitHub + HF Space deploy ready; push/deploy pending a PAT / HF token supplied at the time (deliberately not stored).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475569"/>
                </a:solidFill>
                <a:latin typeface="Segoe UI"/>
              </a:rPr>
              <a:t>Governance rails: synthetic data only; no key on a public Space; Watkins paraphrased with attribution; an independent review documents outcomes in REVIEW_v2.md.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0E7FF"/>
                </a:solidFill>
                <a:latin typeface="Segoe UI"/>
              </a:rPr>
              <a:t>THE CLOSE</a:t>
            </a:r>
          </a:p>
          <a:p>
            <a:r>
              <a:rPr sz="3400" b="1" i="0">
                <a:solidFill>
                  <a:srgbClr val="FFFFFF"/>
                </a:solidFill>
                <a:latin typeface="Segoe UI"/>
              </a:rPr>
              <a:t>Not a job-loss story — a promotion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2062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Segoe UI"/>
              </a:rPr>
              <a:t>In this story the AI is the junior. Your people are the mentors, the reviewers, the ones who decide. We're applying the management playbook they already trust — to a new kind of teammate.</a:t>
            </a:r>
          </a:p>
          <a:p>
            <a:pPr>
              <a:spcBef>
                <a:spcPts val="1400"/>
              </a:spcBef>
            </a:pPr>
            <a:r>
              <a:rPr sz="1100" b="0" i="1">
                <a:solidFill>
                  <a:srgbClr val="D1FAE5"/>
                </a:solidFill>
                <a:latin typeface="Segoe UI"/>
              </a:rPr>
              <a:t>Onboarding framework adapted from Michael D. Watkins, *The First 90 Days* (Harvard Business School Press, 2003). Frameworks paraphrased with attribution; no book text reproduced.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